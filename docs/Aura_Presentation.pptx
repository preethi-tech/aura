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097280"/>
            <a:ext cx="3657600" cy="3657600"/>
          </a:xfrm>
          <a:prstGeom prst="ellipse">
            <a:avLst/>
          </a:prstGeom>
          <a:solidFill>
            <a:srgbClr val="4F6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4206240"/>
            <a:ext cx="2926080" cy="2926080"/>
          </a:xfrm>
          <a:prstGeom prst="ellipse">
            <a:avLst/>
          </a:prstGeom>
          <a:solidFill>
            <a:srgbClr val="1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000" b="1">
                <a:solidFill>
                  <a:srgbClr val="6D8AFF"/>
                </a:solidFill>
                <a:latin typeface="Segoe UI"/>
              </a:rPr>
              <a:t>◂  AURA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4600" b="1">
                <a:solidFill>
                  <a:srgbClr val="FFFFFF"/>
                </a:solidFill>
                <a:latin typeface="Segoe UI"/>
              </a:rPr>
              <a:t>A private early-warning companion</a:t>
            </a:r>
          </a:p>
          <a:p>
            <a:pPr algn="l">
              <a:lnSpc>
                <a:spcPct val="106000"/>
              </a:lnSpc>
            </a:pPr>
            <a:r>
              <a:rPr sz="4600" b="1">
                <a:solidFill>
                  <a:srgbClr val="FFFFFF"/>
                </a:solidFill>
                <a:latin typeface="Segoe UI"/>
              </a:rPr>
              <a:t>for mental wellbeing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0">
                <a:solidFill>
                  <a:srgbClr val="8B949E"/>
                </a:solidFill>
                <a:latin typeface="Segoe UI"/>
              </a:rPr>
              <a:t>Notice sustained changes in your own patterns — and connect to support earlier.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6D8AFF"/>
                </a:solidFill>
                <a:latin typeface="Segoe UI"/>
              </a:rPr>
              <a:t>Passive signals  •  Explainable AI  •  Micro-interventions  •  Circle of Care  •  Built on Google 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6D8AFF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People notice too late — and no one else notices at 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257800" cy="1691640"/>
          </a:xfrm>
          <a:prstGeom prst="roundRect">
            <a:avLst/>
          </a:prstGeom>
          <a:solidFill>
            <a:srgbClr val="1C2333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02996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Silent onset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514600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>
                <a:solidFill>
                  <a:srgbClr val="8B949E"/>
                </a:solidFill>
                <a:latin typeface="Segoe UI"/>
              </a:rPr>
              <a:t>Depression and anxiety build gradually. By the time it's obvious, the person is already deep in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59" y="1828800"/>
            <a:ext cx="5257800" cy="1691640"/>
          </a:xfrm>
          <a:prstGeom prst="roundRect">
            <a:avLst/>
          </a:prstGeom>
          <a:solidFill>
            <a:srgbClr val="1C2333"/>
          </a:solidFill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79" y="202996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Manual tools fail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79" y="2514600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>
                <a:solidFill>
                  <a:srgbClr val="8B949E"/>
                </a:solidFill>
                <a:latin typeface="Segoe UI"/>
              </a:rPr>
              <a:t>Daily mood diaries demand effort exactly when energy and motivation are lowest — so people stop.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5257800" cy="1691640"/>
          </a:xfrm>
          <a:prstGeom prst="roundRect">
            <a:avLst/>
          </a:prstGeom>
          <a:solidFill>
            <a:srgbClr val="1C2333"/>
          </a:solidFill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904487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Diagnostic, not preventive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389120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>
                <a:solidFill>
                  <a:srgbClr val="8B949E"/>
                </a:solidFill>
                <a:latin typeface="Segoe UI"/>
              </a:rPr>
              <a:t>Existing apps either diagnose (stigmatising) or react in crisis. Nothing supports quiet, early self-awareness.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59" y="3703320"/>
            <a:ext cx="5257800" cy="1691640"/>
          </a:xfrm>
          <a:prstGeom prst="roundRect">
            <a:avLst/>
          </a:prstGeom>
          <a:solidFill>
            <a:srgbClr val="1C2333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3904487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The 'who notices'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79" y="4389120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>
                <a:solidFill>
                  <a:srgbClr val="8B949E"/>
                </a:solidFill>
                <a:latin typeface="Segoe UI"/>
              </a:rPr>
              <a:t>The people who could help often have no signal that something has shifted.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58064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</a:pPr>
            <a:r>
              <a:rPr sz="1100" b="0">
                <a:solidFill>
                  <a:srgbClr val="8B949E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8064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8B949E"/>
                </a:solidFill>
                <a:latin typeface="Segoe UI"/>
              </a:rPr>
              <a:t>Aura — wellbeing early-warning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6D8AFF"/>
                </a:solidFill>
                <a:latin typeface="Segoe U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Aura turns weak everyday signals into an early, gentle heads-up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0">
                <a:solidFill>
                  <a:srgbClr val="F5F6F8"/>
                </a:solidFill>
                <a:latin typeface="Segoe UI"/>
              </a:rPr>
              <a:t>A private, opt-in companion that fuses active check-ins and passive phone/wearable signals into one explainable 'Aura Index', personalised to your own baseline — then closes the loop with small actions and, only if you choose, your trusted circle.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834640"/>
            <a:ext cx="2560320" cy="2468880"/>
          </a:xfrm>
          <a:prstGeom prst="roundRect">
            <a:avLst/>
          </a:prstGeom>
          <a:solidFill>
            <a:srgbClr val="1C2333"/>
          </a:solidFill>
          <a:ln w="19050">
            <a:solidFill>
              <a:srgbClr val="4F6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3063240"/>
            <a:ext cx="457200" cy="457200"/>
          </a:xfrm>
          <a:prstGeom prst="ellipse">
            <a:avLst/>
          </a:prstGeom>
          <a:solidFill>
            <a:srgbClr val="4F6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65760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Personalised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20624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>
                <a:solidFill>
                  <a:srgbClr val="8B949E"/>
                </a:solidFill>
                <a:latin typeface="Segoe UI"/>
              </a:rPr>
              <a:t>Every signal is scored against YOUR history, never a population norm.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834640"/>
            <a:ext cx="2560320" cy="2468880"/>
          </a:xfrm>
          <a:prstGeom prst="roundRect">
            <a:avLst/>
          </a:prstGeom>
          <a:solidFill>
            <a:srgbClr val="1C2333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66160" y="306324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365760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Sustained, not spiky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420624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>
                <a:solidFill>
                  <a:srgbClr val="8B949E"/>
                </a:solidFill>
                <a:latin typeface="Segoe UI"/>
              </a:rPr>
              <a:t>One rough day never alarms; multi-signal drift over time does.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834640"/>
            <a:ext cx="2560320" cy="2468880"/>
          </a:xfrm>
          <a:prstGeom prst="roundRect">
            <a:avLst/>
          </a:prstGeom>
          <a:solidFill>
            <a:srgbClr val="1C2333"/>
          </a:solidFill>
          <a:ln w="19050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9359" y="3063240"/>
            <a:ext cx="457200" cy="457200"/>
          </a:xfrm>
          <a:prstGeom prst="ellipse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365760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Explainable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20624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>
                <a:solidFill>
                  <a:srgbClr val="8B949E"/>
                </a:solidFill>
                <a:latin typeface="Segoe UI"/>
              </a:rPr>
              <a:t>Every score decomposes into named, human-readable contributions.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2834640"/>
            <a:ext cx="2560320" cy="2468880"/>
          </a:xfrm>
          <a:prstGeom prst="roundRect">
            <a:avLst/>
          </a:prstGeom>
          <a:solidFill>
            <a:srgbClr val="1C2333"/>
          </a:solidFill>
          <a:ln w="19050">
            <a:solidFill>
              <a:srgbClr val="6D8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052560" y="3063240"/>
            <a:ext cx="457200" cy="457200"/>
          </a:xfrm>
          <a:prstGeom prst="ellipse">
            <a:avLst/>
          </a:prstGeom>
          <a:solidFill>
            <a:srgbClr val="6D8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365760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Private by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420624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>
                <a:solidFill>
                  <a:srgbClr val="8B949E"/>
                </a:solidFill>
                <a:latin typeface="Segoe UI"/>
              </a:rPr>
              <a:t>Runs offline-capable; the user owns and can export or delete everything.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58064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</a:pPr>
            <a:r>
              <a:rPr sz="1100" b="0">
                <a:solidFill>
                  <a:srgbClr val="8B949E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064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8B949E"/>
                </a:solidFill>
                <a:latin typeface="Segoe UI"/>
              </a:rPr>
              <a:t>Aura — wellbeing early-warning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6D8AFF"/>
                </a:solidFill>
                <a:latin typeface="Segoe U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From signals to a sustained, explainable index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286000"/>
            <a:ext cx="1965960" cy="1737360"/>
          </a:xfrm>
          <a:prstGeom prst="roundRect">
            <a:avLst/>
          </a:prstGeom>
          <a:solidFill>
            <a:srgbClr val="1C2333"/>
          </a:solidFill>
          <a:ln w="19050">
            <a:solidFill>
              <a:srgbClr val="4F6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423160"/>
            <a:ext cx="174650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450" b="1">
                <a:solidFill>
                  <a:srgbClr val="4F6EF7"/>
                </a:solidFill>
                <a:latin typeface="Segoe UI"/>
              </a:rPr>
              <a:t>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944368"/>
            <a:ext cx="174650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150" b="0">
                <a:solidFill>
                  <a:srgbClr val="8B949E"/>
                </a:solidFill>
                <a:latin typeface="Segoe UI"/>
              </a:rPr>
              <a:t>Journal + sleep,
social, energy
+ steps, screen time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14600" y="3154680"/>
            <a:ext cx="315468" cy="0"/>
          </a:xfrm>
          <a:prstGeom prst="bentConnector3">
            <a:avLst/>
          </a:prstGeom>
          <a:ln w="25400">
            <a:solidFill>
              <a:srgbClr val="FFFF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30068" y="2286000"/>
            <a:ext cx="1965960" cy="1737360"/>
          </a:xfrm>
          <a:prstGeom prst="roundRect">
            <a:avLst/>
          </a:prstGeom>
          <a:solidFill>
            <a:srgbClr val="1C2333"/>
          </a:solidFill>
          <a:ln w="19050">
            <a:solidFill>
              <a:srgbClr val="6D8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39796" y="2423160"/>
            <a:ext cx="174650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450" b="1">
                <a:solidFill>
                  <a:srgbClr val="6D8AFF"/>
                </a:solidFill>
                <a:latin typeface="Segoe UI"/>
              </a:rPr>
              <a:t>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9796" y="2944368"/>
            <a:ext cx="174650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150" b="0">
                <a:solidFill>
                  <a:srgbClr val="8B949E"/>
                </a:solidFill>
                <a:latin typeface="Segoe UI"/>
              </a:rPr>
              <a:t>Sentiment, self-focus,
absolutist &amp;
future-focus language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96028" y="3154680"/>
            <a:ext cx="315468" cy="0"/>
          </a:xfrm>
          <a:prstGeom prst="bentConnector3">
            <a:avLst/>
          </a:prstGeom>
          <a:ln w="25400">
            <a:solidFill>
              <a:srgbClr val="FFFF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11496" y="2286000"/>
            <a:ext cx="1965960" cy="1737360"/>
          </a:xfrm>
          <a:prstGeom prst="roundRect">
            <a:avLst/>
          </a:prstGeom>
          <a:solidFill>
            <a:srgbClr val="1C2333"/>
          </a:solidFill>
          <a:ln w="19050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21224" y="2423160"/>
            <a:ext cx="174650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450" b="1">
                <a:solidFill>
                  <a:srgbClr val="EAB308"/>
                </a:solidFill>
                <a:latin typeface="Segoe UI"/>
              </a:rPr>
              <a:t>Personal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1224" y="2944368"/>
            <a:ext cx="174650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150" b="0">
                <a:solidFill>
                  <a:srgbClr val="8B949E"/>
                </a:solidFill>
                <a:latin typeface="Segoe UI"/>
              </a:rPr>
              <a:t>Robust median / MAD
over YOUR recent
history (z-scores)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77456" y="3154680"/>
            <a:ext cx="315468" cy="0"/>
          </a:xfrm>
          <a:prstGeom prst="bentConnector3">
            <a:avLst/>
          </a:prstGeom>
          <a:ln w="25400">
            <a:solidFill>
              <a:srgbClr val="FFFF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92924" y="2286000"/>
            <a:ext cx="1965960" cy="1737360"/>
          </a:xfrm>
          <a:prstGeom prst="roundRect">
            <a:avLst/>
          </a:prstGeom>
          <a:solidFill>
            <a:srgbClr val="1C2333"/>
          </a:solidFill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2652" y="2423160"/>
            <a:ext cx="174650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450" b="1">
                <a:solidFill>
                  <a:srgbClr val="F97316"/>
                </a:solidFill>
                <a:latin typeface="Segoe UI"/>
              </a:rPr>
              <a:t>Fuse + smooth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2652" y="2944368"/>
            <a:ext cx="174650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150" b="0">
                <a:solidFill>
                  <a:srgbClr val="8B949E"/>
                </a:solidFill>
                <a:latin typeface="Segoe UI"/>
              </a:rPr>
              <a:t>Weight &amp; combine;
rolling window enforces
'sustained' drift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58884" y="3154680"/>
            <a:ext cx="315468" cy="0"/>
          </a:xfrm>
          <a:prstGeom prst="bentConnector3">
            <a:avLst/>
          </a:prstGeom>
          <a:ln w="25400">
            <a:solidFill>
              <a:srgbClr val="FFFF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674352" y="2286000"/>
            <a:ext cx="1965960" cy="1737360"/>
          </a:xfrm>
          <a:prstGeom prst="roundRect">
            <a:avLst/>
          </a:prstGeom>
          <a:solidFill>
            <a:srgbClr val="1C2333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2423160"/>
            <a:ext cx="174650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450" b="1">
                <a:solidFill>
                  <a:srgbClr val="22C55E"/>
                </a:solidFill>
                <a:latin typeface="Segoe UI"/>
              </a:rPr>
              <a:t>Aura Index 0–100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944368"/>
            <a:ext cx="174650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150" b="0">
                <a:solidFill>
                  <a:srgbClr val="8B949E"/>
                </a:solidFill>
                <a:latin typeface="Segoe UI"/>
              </a:rPr>
              <a:t>Tiered heads-up with
per-signal 'why'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80560"/>
            <a:ext cx="10881360" cy="10972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4F6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61772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6D8AFF"/>
                </a:solidFill>
                <a:latin typeface="Segoe UI"/>
              </a:rPr>
              <a:t>Why this design: </a:t>
            </a:r>
          </a:p>
          <a:p>
            <a:pPr algn="l">
              <a:lnSpc>
                <a:spcPct val="105000"/>
              </a:lnSpc>
            </a:pPr>
            <a:r>
              <a:rPr sz="1350" b="0">
                <a:solidFill>
                  <a:srgbClr val="F5F6F8"/>
                </a:solidFill>
                <a:latin typeface="Segoe UI"/>
              </a:rPr>
              <a:t>A single bad day produces a tiny, transient blip. Only when several weak signals drift together and stay drifted does the index climb into higher tiers — mirroring how real decline actually looks, while minimising false alarms.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58064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</a:pPr>
            <a:r>
              <a:rPr sz="1100" b="0">
                <a:solidFill>
                  <a:srgbClr val="8B949E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064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8B949E"/>
                </a:solidFill>
                <a:latin typeface="Segoe UI"/>
              </a:rPr>
              <a:t>Aura — wellbeing early-warning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6D8AFF"/>
                </a:solidFill>
                <a:latin typeface="Segoe U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Cloud-native, built on Google Cloud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2377440" cy="1280160"/>
          </a:xfrm>
          <a:prstGeom prst="roundRect">
            <a:avLst/>
          </a:prstGeom>
          <a:solidFill>
            <a:srgbClr val="1C2333"/>
          </a:solidFill>
          <a:ln w="19050">
            <a:solidFill>
              <a:srgbClr val="6D8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2194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Browser UI</a:t>
            </a:r>
          </a:p>
          <a:p>
            <a:pPr algn="ctr">
              <a:lnSpc>
                <a:spcPct val="106000"/>
              </a:lnSpc>
            </a:pPr>
            <a:r>
              <a:rPr sz="1150" b="0">
                <a:solidFill>
                  <a:srgbClr val="8B949E"/>
                </a:solidFill>
                <a:latin typeface="Segoe UI"/>
              </a:rPr>
              <a:t>Light/dark, charts,
Firebase Auth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2011680"/>
            <a:ext cx="2743200" cy="128016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4F6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0" y="2148840"/>
            <a:ext cx="2560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600" b="1">
                <a:solidFill>
                  <a:srgbClr val="6D8AFF"/>
                </a:solidFill>
                <a:latin typeface="Segoe UI"/>
              </a:rPr>
              <a:t>Cloud Run</a:t>
            </a:r>
          </a:p>
          <a:p>
            <a:pPr algn="ctr">
              <a:lnSpc>
                <a:spcPct val="106000"/>
              </a:lnSpc>
            </a:pPr>
            <a:r>
              <a:rPr sz="1200" b="0">
                <a:solidFill>
                  <a:srgbClr val="8B949E"/>
                </a:solidFill>
                <a:latin typeface="Segoe UI"/>
              </a:rPr>
              <a:t>FastAPI + static UI
(Docker container)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2651760"/>
            <a:ext cx="1005840" cy="0"/>
          </a:xfrm>
          <a:prstGeom prst="bentConnector3">
            <a:avLst/>
          </a:prstGeom>
          <a:ln w="25400">
            <a:solidFill>
              <a:srgbClr val="FFFF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772400" y="822960"/>
            <a:ext cx="3108960" cy="1051560"/>
          </a:xfrm>
          <a:prstGeom prst="roundRect">
            <a:avLst/>
          </a:prstGeom>
          <a:solidFill>
            <a:srgbClr val="1C2333"/>
          </a:solidFill>
          <a:ln w="16510">
            <a:solidFill>
              <a:srgbClr val="4F6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932688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4F6EF7"/>
                </a:solidFill>
                <a:latin typeface="Segoe UI"/>
              </a:rPr>
              <a:t>Gemini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132588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8B949E"/>
                </a:solidFill>
                <a:latin typeface="Segoe UI"/>
              </a:rPr>
              <a:t>Sentiment + warm
weekly summaries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6675120" y="1325880"/>
            <a:ext cx="1097280" cy="1325880"/>
          </a:xfrm>
          <a:prstGeom prst="bentConnector3">
            <a:avLst/>
          </a:prstGeom>
          <a:ln w="19050">
            <a:solidFill>
              <a:srgbClr val="4F6EF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2057400"/>
            <a:ext cx="3108960" cy="1051560"/>
          </a:xfrm>
          <a:prstGeom prst="roundRect">
            <a:avLst/>
          </a:prstGeom>
          <a:solidFill>
            <a:srgbClr val="1C2333"/>
          </a:solidFill>
          <a:ln w="1651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2167128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22C55E"/>
                </a:solidFill>
                <a:latin typeface="Segoe UI"/>
              </a:rPr>
              <a:t>Firestore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56032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8B949E"/>
                </a:solidFill>
                <a:latin typeface="Segoe UI"/>
              </a:rPr>
              <a:t>Per-user cloud
persistence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675120" y="2560320"/>
            <a:ext cx="1097280" cy="91440"/>
          </a:xfrm>
          <a:prstGeom prst="bentConnector3">
            <a:avLst/>
          </a:prstGeom>
          <a:ln w="19050">
            <a:solidFill>
              <a:srgbClr val="22C55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772400" y="3291840"/>
            <a:ext cx="3108960" cy="1051560"/>
          </a:xfrm>
          <a:prstGeom prst="roundRect">
            <a:avLst/>
          </a:prstGeom>
          <a:solidFill>
            <a:srgbClr val="1C2333"/>
          </a:solidFill>
          <a:ln w="16510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3401568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EAB308"/>
                </a:solidFill>
                <a:latin typeface="Segoe UI"/>
              </a:rPr>
              <a:t>Firebase Auth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379476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8B949E"/>
                </a:solidFill>
                <a:latin typeface="Segoe UI"/>
              </a:rPr>
              <a:t>Google Sign-in,
user isolation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75120" y="2651760"/>
            <a:ext cx="1097280" cy="1143000"/>
          </a:xfrm>
          <a:prstGeom prst="bentConnector3">
            <a:avLst/>
          </a:prstGeom>
          <a:ln w="19050">
            <a:solidFill>
              <a:srgbClr val="EAB30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772400" y="4526280"/>
            <a:ext cx="3108960" cy="1051560"/>
          </a:xfrm>
          <a:prstGeom prst="roundRect">
            <a:avLst/>
          </a:prstGeom>
          <a:solidFill>
            <a:srgbClr val="1C2333"/>
          </a:solidFill>
          <a:ln w="1651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4636008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F97316"/>
                </a:solidFill>
                <a:latin typeface="Segoe UI"/>
              </a:rPr>
              <a:t>Cloud Logging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502920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8B949E"/>
                </a:solidFill>
                <a:latin typeface="Segoe UI"/>
              </a:rPr>
              <a:t>Structured
observability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675120" y="2651760"/>
            <a:ext cx="1097280" cy="2377440"/>
          </a:xfrm>
          <a:prstGeom prst="bentConnector3">
            <a:avLst/>
          </a:prstGeom>
          <a:ln w="19050">
            <a:solidFill>
              <a:srgbClr val="F9731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931920" y="3749039"/>
            <a:ext cx="2743200" cy="914400"/>
          </a:xfrm>
          <a:prstGeom prst="roundRect">
            <a:avLst/>
          </a:prstGeom>
          <a:solidFill>
            <a:srgbClr val="1C2333"/>
          </a:solidFill>
          <a:ln w="15240">
            <a:solidFill>
              <a:srgbClr val="8B94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0" y="388620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350" b="1">
                <a:solidFill>
                  <a:srgbClr val="FFFFFF"/>
                </a:solidFill>
                <a:latin typeface="Segoe UI"/>
              </a:rPr>
              <a:t>Secret Manager</a:t>
            </a:r>
          </a:p>
          <a:p>
            <a:pPr algn="ctr">
              <a:lnSpc>
                <a:spcPct val="106000"/>
              </a:lnSpc>
            </a:pPr>
            <a:r>
              <a:rPr sz="1100" b="0">
                <a:solidFill>
                  <a:srgbClr val="8B949E"/>
                </a:solidFill>
                <a:latin typeface="Segoe UI"/>
              </a:rPr>
              <a:t>API keys — never in code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03520" y="3291840"/>
            <a:ext cx="0" cy="457199"/>
          </a:xfrm>
          <a:prstGeom prst="bentConnector3">
            <a:avLst/>
          </a:prstGeom>
          <a:ln w="2540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48640" y="3749039"/>
            <a:ext cx="2377440" cy="914400"/>
          </a:xfrm>
          <a:prstGeom prst="roundRect">
            <a:avLst/>
          </a:prstGeom>
          <a:solidFill>
            <a:srgbClr val="1C2333"/>
          </a:solidFill>
          <a:ln w="15240">
            <a:solidFill>
              <a:srgbClr val="8B94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88620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350" b="1">
                <a:solidFill>
                  <a:srgbClr val="FFFFFF"/>
                </a:solidFill>
                <a:latin typeface="Segoe UI"/>
              </a:rPr>
              <a:t>SQLite fallback</a:t>
            </a:r>
          </a:p>
          <a:p>
            <a:pPr algn="ctr">
              <a:lnSpc>
                <a:spcPct val="106000"/>
              </a:lnSpc>
            </a:pPr>
            <a:r>
              <a:rPr sz="1100" b="0">
                <a:solidFill>
                  <a:srgbClr val="8B949E"/>
                </a:solidFill>
                <a:latin typeface="Segoe UI"/>
              </a:rPr>
              <a:t>Fully offline mode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737360" y="3291840"/>
            <a:ext cx="0" cy="457199"/>
          </a:xfrm>
          <a:prstGeom prst="bentConnector3">
            <a:avLst/>
          </a:prstGeom>
          <a:ln w="2540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5029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>
                <a:solidFill>
                  <a:srgbClr val="F5F6F8"/>
                </a:solidFill>
                <a:latin typeface="Segoe UI"/>
              </a:rPr>
              <a:t>One image, two modes: with keys it uses Gemini + Firestore + Cloud Logging; with none it runs 100% offline on SQLite with a deterministic analyzer. Same code, graceful degradation.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58064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</a:pPr>
            <a:r>
              <a:rPr sz="1100" b="0">
                <a:solidFill>
                  <a:srgbClr val="8B949E"/>
                </a:solidFill>
                <a:latin typeface="Segoe U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8064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8B949E"/>
                </a:solidFill>
                <a:latin typeface="Segoe UI"/>
              </a:rPr>
              <a:t>Aura — wellbeing early-warning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6D8AFF"/>
                </a:solidFill>
                <a:latin typeface="Segoe UI"/>
              </a:rPr>
              <a:t>FEATURE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Passive Signal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2194560" cy="457200"/>
          </a:xfrm>
          <a:prstGeom prst="roundRect">
            <a:avLst/>
          </a:prstGeom>
          <a:solidFill>
            <a:srgbClr val="4F6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wearable + phone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5852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50" b="0">
                <a:solidFill>
                  <a:srgbClr val="F5F6F8"/>
                </a:solidFill>
                <a:latin typeface="Segoe UI"/>
              </a:rPr>
              <a:t>Reduce manual effort and increase reliability by pulling sleep + activity from Google Fit and deriving passive phone signals — without ever reading content.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383280"/>
            <a:ext cx="5852160" cy="777240"/>
          </a:xfrm>
          <a:prstGeom prst="roundRect">
            <a:avLst/>
          </a:prstGeom>
          <a:solidFill>
            <a:srgbClr val="1C2333"/>
          </a:solidFill>
          <a:ln w="15240">
            <a:solidFill>
              <a:srgbClr val="4F6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5486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4F6EF7"/>
                </a:solidFill>
                <a:latin typeface="Segoe UI"/>
              </a:rPr>
              <a:t>Google Fit  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8B949E"/>
                </a:solidFill>
                <a:latin typeface="Segoe UI"/>
              </a:rPr>
              <a:t>steps, active minutes &amp; sleep via the Fitness REST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51960"/>
            <a:ext cx="5852160" cy="777240"/>
          </a:xfrm>
          <a:prstGeom prst="roundRect">
            <a:avLst/>
          </a:prstGeom>
          <a:solidFill>
            <a:srgbClr val="1C2333"/>
          </a:solidFill>
          <a:ln w="15240">
            <a:solidFill>
              <a:srgbClr val="4F6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343400"/>
            <a:ext cx="5486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4F6EF7"/>
                </a:solidFill>
                <a:latin typeface="Segoe UI"/>
              </a:rPr>
              <a:t>Phone signal  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8B949E"/>
                </a:solidFill>
                <a:latin typeface="Segoe UI"/>
              </a:rPr>
              <a:t>daily screen-time as a digital-phenotyping marker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20640"/>
            <a:ext cx="5852160" cy="777240"/>
          </a:xfrm>
          <a:prstGeom prst="roundRect">
            <a:avLst/>
          </a:prstGeom>
          <a:solidFill>
            <a:srgbClr val="1C2333"/>
          </a:solidFill>
          <a:ln w="15240">
            <a:solidFill>
              <a:srgbClr val="4F6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212079"/>
            <a:ext cx="5486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4F6EF7"/>
                </a:solidFill>
                <a:latin typeface="Segoe UI"/>
              </a:rPr>
              <a:t>Augments, never fabricates  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8B949E"/>
                </a:solidFill>
                <a:latin typeface="Segoe UI"/>
              </a:rPr>
              <a:t>passive data only enriches real check-in days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5852160" cy="777240"/>
          </a:xfrm>
          <a:prstGeom prst="roundRect">
            <a:avLst/>
          </a:prstGeom>
          <a:solidFill>
            <a:srgbClr val="1C2333"/>
          </a:solidFill>
          <a:ln w="15240">
            <a:solidFill>
              <a:srgbClr val="4F6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080759"/>
            <a:ext cx="5486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4F6EF7"/>
                </a:solidFill>
                <a:latin typeface="Segoe UI"/>
              </a:rPr>
              <a:t>Graceful demo  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8B949E"/>
                </a:solidFill>
                <a:latin typeface="Segoe UI"/>
              </a:rPr>
              <a:t>realistic simulation when no OAuth token is present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1737360"/>
            <a:ext cx="4846320" cy="38404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4F6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1965960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One-tap: 'Sync Google Fit'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2560320"/>
            <a:ext cx="4297680" cy="822960"/>
          </a:xfrm>
          <a:prstGeom prst="roundRect">
            <a:avLst/>
          </a:prstGeom>
          <a:solidFill>
            <a:srgbClr val="1C2333"/>
          </a:solidFill>
          <a:ln w="1524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706624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706624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</a:pPr>
            <a:r>
              <a:rPr sz="1400" b="1">
                <a:solidFill>
                  <a:srgbClr val="22C55E"/>
                </a:solidFill>
                <a:latin typeface="Segoe UI"/>
              </a:rPr>
              <a:t>8,500 → 2,200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3520439"/>
            <a:ext cx="4297680" cy="822960"/>
          </a:xfrm>
          <a:prstGeom prst="roundRect">
            <a:avLst/>
          </a:prstGeom>
          <a:solidFill>
            <a:srgbClr val="1C2333"/>
          </a:solidFill>
          <a:ln w="15240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3666744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Active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666744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</a:pPr>
            <a:r>
              <a:rPr sz="1400" b="1">
                <a:solidFill>
                  <a:srgbClr val="EAB308"/>
                </a:solidFill>
                <a:latin typeface="Segoe UI"/>
              </a:rPr>
              <a:t>45 → 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4480560"/>
            <a:ext cx="4297680" cy="822960"/>
          </a:xfrm>
          <a:prstGeom prst="roundRect">
            <a:avLst/>
          </a:prstGeom>
          <a:solidFill>
            <a:srgbClr val="1C2333"/>
          </a:solidFill>
          <a:ln w="1524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4626864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Screen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626864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</a:pPr>
            <a:r>
              <a:rPr sz="1400" b="1">
                <a:solidFill>
                  <a:srgbClr val="EF4444"/>
                </a:solidFill>
                <a:latin typeface="Segoe UI"/>
              </a:rPr>
              <a:t>200 → 430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58064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</a:pPr>
            <a:r>
              <a:rPr sz="1100" b="0">
                <a:solidFill>
                  <a:srgbClr val="8B949E"/>
                </a:solidFill>
                <a:latin typeface="Segoe U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064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8B949E"/>
                </a:solidFill>
                <a:latin typeface="Segoe UI"/>
              </a:rPr>
              <a:t>Aura — wellbeing early-warning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6D8AFF"/>
                </a:solidFill>
                <a:latin typeface="Segoe UI"/>
              </a:rPr>
              <a:t>FEATURE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Explainable AI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2194560" cy="457200"/>
          </a:xfrm>
          <a:prstGeom prst="roundRect">
            <a:avLst/>
          </a:prstGeom>
          <a:solidFill>
            <a:srgbClr val="6D8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Gemini-powered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5852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50" b="0">
                <a:solidFill>
                  <a:srgbClr val="F5F6F8"/>
                </a:solidFill>
                <a:latin typeface="Segoe UI"/>
              </a:rPr>
              <a:t>Beyond a number: Aura explains itself. Gemini turns grounded facts into a warm weekly narrative and surfaces recurring cycles — reasoning, not just scoring.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383280"/>
            <a:ext cx="5852160" cy="777240"/>
          </a:xfrm>
          <a:prstGeom prst="roundRect">
            <a:avLst/>
          </a:prstGeom>
          <a:solidFill>
            <a:srgbClr val="1C2333"/>
          </a:solidFill>
          <a:ln w="15240">
            <a:solidFill>
              <a:srgbClr val="6D8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5486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6D8AFF"/>
                </a:solidFill>
                <a:latin typeface="Segoe UI"/>
              </a:rPr>
              <a:t>Weekly summary  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8B949E"/>
                </a:solidFill>
                <a:latin typeface="Segoe UI"/>
              </a:rPr>
              <a:t>'sleep 2h below baseline for 5 days, with less contact'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51960"/>
            <a:ext cx="5852160" cy="777240"/>
          </a:xfrm>
          <a:prstGeom prst="roundRect">
            <a:avLst/>
          </a:prstGeom>
          <a:solidFill>
            <a:srgbClr val="1C2333"/>
          </a:solidFill>
          <a:ln w="15240">
            <a:solidFill>
              <a:srgbClr val="6D8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343400"/>
            <a:ext cx="5486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6D8AFF"/>
                </a:solidFill>
                <a:latin typeface="Segoe UI"/>
              </a:rPr>
              <a:t>Recurring cycles  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8B949E"/>
                </a:solidFill>
                <a:latin typeface="Segoe UI"/>
              </a:rPr>
              <a:t>weekday-vs-weekend and your toughest day, detected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20640"/>
            <a:ext cx="5852160" cy="777240"/>
          </a:xfrm>
          <a:prstGeom prst="roundRect">
            <a:avLst/>
          </a:prstGeom>
          <a:solidFill>
            <a:srgbClr val="1C2333"/>
          </a:solidFill>
          <a:ln w="15240">
            <a:solidFill>
              <a:srgbClr val="6D8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212079"/>
            <a:ext cx="5486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6D8AFF"/>
                </a:solidFill>
                <a:latin typeface="Segoe UI"/>
              </a:rPr>
              <a:t>Numbers stay real  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8B949E"/>
                </a:solidFill>
                <a:latin typeface="Segoe UI"/>
              </a:rPr>
              <a:t>Gemini rephrases; it never invents the figures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5852160" cy="777240"/>
          </a:xfrm>
          <a:prstGeom prst="roundRect">
            <a:avLst/>
          </a:prstGeom>
          <a:solidFill>
            <a:srgbClr val="1C2333"/>
          </a:solidFill>
          <a:ln w="15240">
            <a:solidFill>
              <a:srgbClr val="6D8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080759"/>
            <a:ext cx="5486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6D8AFF"/>
                </a:solidFill>
                <a:latin typeface="Segoe UI"/>
              </a:rPr>
              <a:t>Works offline  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8B949E"/>
                </a:solidFill>
                <a:latin typeface="Segoe UI"/>
              </a:rPr>
              <a:t>deterministic narrative when Gemini is off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1737360"/>
            <a:ext cx="4846320" cy="38404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6D8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1965960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Weekly Summary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2468880"/>
            <a:ext cx="4297680" cy="1463040"/>
          </a:xfrm>
          <a:prstGeom prst="roundRect">
            <a:avLst/>
          </a:prstGeom>
          <a:solidFill>
            <a:srgbClr val="1C2333"/>
          </a:solidFill>
          <a:ln w="15240">
            <a:solidFill>
              <a:srgbClr val="6D8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578608"/>
            <a:ext cx="3931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>
                <a:solidFill>
                  <a:srgbClr val="F5F6F8"/>
                </a:solidFill>
                <a:latin typeface="Segoe UI"/>
              </a:rPr>
              <a:t>“Your index rose this week (avg 72/100). Sleep averaged 5.1h, about 2h below your usual, alongside less social contact. Be gentle with yourself — small steps count.”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406908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Recurring pattern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4480560"/>
            <a:ext cx="4297680" cy="914400"/>
          </a:xfrm>
          <a:prstGeom prst="roundRect">
            <a:avLst/>
          </a:prstGeom>
          <a:solidFill>
            <a:srgbClr val="1C2333"/>
          </a:solidFill>
          <a:ln w="15240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4617720"/>
            <a:ext cx="3931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>
                <a:solidFill>
                  <a:srgbClr val="8B949E"/>
                </a:solidFill>
                <a:latin typeface="Segoe UI"/>
              </a:rPr>
              <a:t>Your index tends to run higher on weekends; Saturday is often your toughest day.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58064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</a:pPr>
            <a:r>
              <a:rPr sz="1100" b="0">
                <a:solidFill>
                  <a:srgbClr val="8B949E"/>
                </a:solidFill>
                <a:latin typeface="Segoe UI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064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8B949E"/>
                </a:solidFill>
                <a:latin typeface="Segoe UI"/>
              </a:rPr>
              <a:t>Aura — wellbeing early-warning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6D8AFF"/>
                </a:solidFill>
                <a:latin typeface="Segoe UI"/>
              </a:rPr>
              <a:t>FEATURE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Micro-Intervention Suggestions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2194560" cy="45720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detection →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5852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50" b="0">
                <a:solidFill>
                  <a:srgbClr val="F5F6F8"/>
                </a:solidFill>
                <a:latin typeface="Segoe UI"/>
              </a:rPr>
              <a:t>When the index rises, Aura offers ONE small, evidence-based action mapped to the signal driving it — closing the loop from detection to action, never overstepping into medical advice.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383280"/>
            <a:ext cx="5852160" cy="777240"/>
          </a:xfrm>
          <a:prstGeom prst="roundRect">
            <a:avLst/>
          </a:prstGeom>
          <a:solidFill>
            <a:srgbClr val="1C2333"/>
          </a:solidFill>
          <a:ln w="1524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5486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C55E"/>
                </a:solidFill>
                <a:latin typeface="Segoe UI"/>
              </a:rPr>
              <a:t>Targeted  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8B949E"/>
                </a:solidFill>
                <a:latin typeface="Segoe UI"/>
              </a:rPr>
              <a:t>action matches the top contributing signal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51960"/>
            <a:ext cx="5852160" cy="777240"/>
          </a:xfrm>
          <a:prstGeom prst="roundRect">
            <a:avLst/>
          </a:prstGeom>
          <a:solidFill>
            <a:srgbClr val="1C2333"/>
          </a:solidFill>
          <a:ln w="1524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343400"/>
            <a:ext cx="5486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C55E"/>
                </a:solidFill>
                <a:latin typeface="Segoe UI"/>
              </a:rPr>
              <a:t>Tiny &amp; doable  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8B949E"/>
                </a:solidFill>
                <a:latin typeface="Segoe UI"/>
              </a:rPr>
              <a:t>2–10 minute steps (box breathing, a short walk)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20640"/>
            <a:ext cx="5852160" cy="777240"/>
          </a:xfrm>
          <a:prstGeom prst="roundRect">
            <a:avLst/>
          </a:prstGeom>
          <a:solidFill>
            <a:srgbClr val="1C2333"/>
          </a:solidFill>
          <a:ln w="1524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212079"/>
            <a:ext cx="5486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C55E"/>
                </a:solidFill>
                <a:latin typeface="Segoe UI"/>
              </a:rPr>
              <a:t>Evidence-based  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8B949E"/>
                </a:solidFill>
                <a:latin typeface="Segoe UI"/>
              </a:rPr>
              <a:t>behavioural activation &amp; sleep-hygiene grounding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5852160" cy="777240"/>
          </a:xfrm>
          <a:prstGeom prst="roundRect">
            <a:avLst/>
          </a:prstGeom>
          <a:solidFill>
            <a:srgbClr val="1C2333"/>
          </a:solidFill>
          <a:ln w="1524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080759"/>
            <a:ext cx="5486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C55E"/>
                </a:solidFill>
                <a:latin typeface="Segoe UI"/>
              </a:rPr>
              <a:t>Kind at baseline  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8B949E"/>
                </a:solidFill>
                <a:latin typeface="Segoe UI"/>
              </a:rPr>
              <a:t>a 'keep it up' note when things are stable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1737360"/>
            <a:ext cx="4846320" cy="38404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1965960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Try this now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2468880"/>
            <a:ext cx="4297680" cy="868680"/>
          </a:xfrm>
          <a:prstGeom prst="roundRect">
            <a:avLst/>
          </a:prstGeom>
          <a:solidFill>
            <a:srgbClr val="1C2333"/>
          </a:solidFill>
          <a:ln w="1524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56032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1">
                <a:solidFill>
                  <a:srgbClr val="22C55E"/>
                </a:solidFill>
                <a:latin typeface="Segoe UI"/>
              </a:rPr>
              <a:t>Wind-down cue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95560" y="2578608"/>
            <a:ext cx="960120" cy="32004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tonight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92608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8B949E"/>
                </a:solidFill>
                <a:latin typeface="Segoe UI"/>
              </a:rPr>
              <a:t>Screens away 30 min before a fixed lights-out.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474720"/>
            <a:ext cx="4297680" cy="868680"/>
          </a:xfrm>
          <a:prstGeom prst="roundRect">
            <a:avLst/>
          </a:prstGeom>
          <a:solidFill>
            <a:srgbClr val="1C2333"/>
          </a:solidFill>
          <a:ln w="1524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356616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1">
                <a:solidFill>
                  <a:srgbClr val="22C55E"/>
                </a:solidFill>
                <a:latin typeface="Segoe UI"/>
              </a:rPr>
              <a:t>Box breathing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95560" y="3584448"/>
            <a:ext cx="960120" cy="32004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2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93192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8B949E"/>
                </a:solidFill>
                <a:latin typeface="Segoe UI"/>
              </a:rPr>
              <a:t>In 4, hold 4, out 4, hold 4 — repeat.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4480560"/>
            <a:ext cx="4297680" cy="868680"/>
          </a:xfrm>
          <a:prstGeom prst="roundRect">
            <a:avLst/>
          </a:prstGeom>
          <a:solidFill>
            <a:srgbClr val="1C2333"/>
          </a:solidFill>
          <a:ln w="1524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0" y="457200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1">
                <a:solidFill>
                  <a:srgbClr val="22C55E"/>
                </a:solidFill>
                <a:latin typeface="Segoe UI"/>
              </a:rPr>
              <a:t>One small reconnect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95560" y="4590288"/>
            <a:ext cx="960120" cy="32004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2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93776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8B949E"/>
                </a:solidFill>
                <a:latin typeface="Segoe UI"/>
              </a:rPr>
              <a:t>Send a one-line hello to someone you trust.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58064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</a:pPr>
            <a:r>
              <a:rPr sz="1100" b="0">
                <a:solidFill>
                  <a:srgbClr val="8B949E"/>
                </a:solidFill>
                <a:latin typeface="Segoe U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8064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8B949E"/>
                </a:solidFill>
                <a:latin typeface="Segoe UI"/>
              </a:rPr>
              <a:t>Aura — wellbeing early-warning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6D8AFF"/>
                </a:solidFill>
                <a:latin typeface="Segoe UI"/>
              </a:rPr>
              <a:t>FEATURE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Circle of Care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2194560" cy="45720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opt-in + private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5852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50" b="0">
                <a:solidFill>
                  <a:srgbClr val="F5F6F8"/>
                </a:solidFill>
                <a:latin typeface="Segoe UI"/>
              </a:rPr>
              <a:t>Solve the 'who notices' gap with privacy by default. Pre-select 1–2 trusted people; at the Urgent tier Aura privately suggests you reach out with a ready, generic message.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383280"/>
            <a:ext cx="5852160" cy="777240"/>
          </a:xfrm>
          <a:prstGeom prst="roundRect">
            <a:avLst/>
          </a:prstGeom>
          <a:solidFill>
            <a:srgbClr val="1C2333"/>
          </a:solidFill>
          <a:ln w="1524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5486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F4444"/>
                </a:solidFill>
                <a:latin typeface="Segoe UI"/>
              </a:rPr>
              <a:t>Opt-in only  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8B949E"/>
                </a:solidFill>
                <a:latin typeface="Segoe UI"/>
              </a:rPr>
              <a:t>no contacts exist unless you add them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51960"/>
            <a:ext cx="5852160" cy="777240"/>
          </a:xfrm>
          <a:prstGeom prst="roundRect">
            <a:avLst/>
          </a:prstGeom>
          <a:solidFill>
            <a:srgbClr val="1C2333"/>
          </a:solidFill>
          <a:ln w="1524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343400"/>
            <a:ext cx="5486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F4444"/>
                </a:solidFill>
                <a:latin typeface="Segoe UI"/>
              </a:rPr>
              <a:t>Never auto-sends  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8B949E"/>
                </a:solidFill>
                <a:latin typeface="Segoe UI"/>
              </a:rPr>
              <a:t>Aura prepares a message; you choose to send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20640"/>
            <a:ext cx="5852160" cy="777240"/>
          </a:xfrm>
          <a:prstGeom prst="roundRect">
            <a:avLst/>
          </a:prstGeom>
          <a:solidFill>
            <a:srgbClr val="1C2333"/>
          </a:solidFill>
          <a:ln w="1524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212079"/>
            <a:ext cx="5486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F4444"/>
                </a:solidFill>
                <a:latin typeface="Segoe UI"/>
              </a:rPr>
              <a:t>Data minimisation  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8B949E"/>
                </a:solidFill>
                <a:latin typeface="Segoe UI"/>
              </a:rPr>
              <a:t>generic nudge — no scores, signals or journal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5852160" cy="777240"/>
          </a:xfrm>
          <a:prstGeom prst="roundRect">
            <a:avLst/>
          </a:prstGeom>
          <a:solidFill>
            <a:srgbClr val="1C2333"/>
          </a:solidFill>
          <a:ln w="1524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080759"/>
            <a:ext cx="5486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F4444"/>
                </a:solidFill>
                <a:latin typeface="Segoe UI"/>
              </a:rPr>
              <a:t>You're in control  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8B949E"/>
                </a:solidFill>
                <a:latin typeface="Segoe UI"/>
              </a:rPr>
              <a:t>human-in-the-loop at every step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1737360"/>
            <a:ext cx="4846320" cy="38404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1965960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FFFFFF"/>
                </a:solidFill>
                <a:latin typeface="Segoe UI"/>
              </a:rPr>
              <a:t>Suggested nudge (you send)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2514600"/>
            <a:ext cx="4297680" cy="1371600"/>
          </a:xfrm>
          <a:prstGeom prst="roundRect">
            <a:avLst/>
          </a:prstGeom>
          <a:solidFill>
            <a:srgbClr val="1C2333"/>
          </a:solidFill>
          <a:ln w="1524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651760"/>
            <a:ext cx="3931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>
                <a:solidFill>
                  <a:srgbClr val="F5F6F8"/>
                </a:solidFill>
                <a:latin typeface="Segoe UI"/>
              </a:rPr>
              <a:t>“Hi Sam, quick hello. I've been using a wellbeing app and set you as someone I trust. I'd appreciate a check-in when you have a moment.”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4069080"/>
            <a:ext cx="4297680" cy="13258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6D8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4187952"/>
            <a:ext cx="3931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6D8AFF"/>
                </a:solidFill>
                <a:latin typeface="Segoe UI"/>
              </a:rPr>
              <a:t>Privacy guarantee  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8B949E"/>
                </a:solidFill>
                <a:latin typeface="Segoe UI"/>
              </a:rPr>
              <a:t>Aura never contacts anyone for you and never shares your data. The nudge is a private suggestion — nothing more.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58064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</a:pPr>
            <a:r>
              <a:rPr sz="1100" b="0">
                <a:solidFill>
                  <a:srgbClr val="8B949E"/>
                </a:solidFill>
                <a:latin typeface="Segoe UI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8064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8B949E"/>
                </a:solidFill>
                <a:latin typeface="Segoe UI"/>
              </a:rPr>
              <a:t>Aura — wellbeing early-warning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6D8AFF"/>
                </a:solidFill>
                <a:latin typeface="Segoe UI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Tech stack &amp; Google services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474720" cy="3749039"/>
          </a:xfrm>
          <a:prstGeom prst="roundRect">
            <a:avLst/>
          </a:prstGeom>
          <a:solidFill>
            <a:srgbClr val="1C2333"/>
          </a:solidFill>
          <a:ln w="19050">
            <a:solidFill>
              <a:srgbClr val="4F6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3474720" cy="594360"/>
          </a:xfrm>
          <a:prstGeom prst="rect">
            <a:avLst/>
          </a:prstGeom>
          <a:solidFill>
            <a:srgbClr val="4F6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603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6EF7"/>
                </a:solidFill>
                <a:latin typeface="Segoe UI"/>
              </a:rPr>
              <a:t>•  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F5F6F8"/>
                </a:solidFill>
                <a:latin typeface="Segoe UI"/>
              </a:rPr>
              <a:t>Python 3.12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6EF7"/>
                </a:solidFill>
                <a:latin typeface="Segoe UI"/>
              </a:rPr>
              <a:t>•  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F5F6F8"/>
                </a:solidFill>
                <a:latin typeface="Segoe UI"/>
              </a:rPr>
              <a:t>FastAPI + Uvicorn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6EF7"/>
                </a:solidFill>
                <a:latin typeface="Segoe UI"/>
              </a:rPr>
              <a:t>•  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F5F6F8"/>
                </a:solidFill>
                <a:latin typeface="Segoe UI"/>
              </a:rPr>
              <a:t>Deterministic analyzer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062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6EF7"/>
                </a:solidFill>
                <a:latin typeface="Segoe UI"/>
              </a:rPr>
              <a:t>•  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F5F6F8"/>
                </a:solidFill>
                <a:latin typeface="Segoe UI"/>
              </a:rPr>
              <a:t>Pydantic schemas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79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6EF7"/>
                </a:solidFill>
                <a:latin typeface="Segoe UI"/>
              </a:rPr>
              <a:t>•  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F5F6F8"/>
                </a:solidFill>
                <a:latin typeface="Segoe UI"/>
              </a:rPr>
              <a:t>65 passing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59" y="1737360"/>
            <a:ext cx="3474720" cy="3749039"/>
          </a:xfrm>
          <a:prstGeom prst="roundRect">
            <a:avLst/>
          </a:prstGeom>
          <a:solidFill>
            <a:srgbClr val="1C2333"/>
          </a:solidFill>
          <a:ln w="19050">
            <a:solidFill>
              <a:srgbClr val="6D8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1737360"/>
            <a:ext cx="3474720" cy="594360"/>
          </a:xfrm>
          <a:prstGeom prst="rect">
            <a:avLst/>
          </a:prstGeom>
          <a:solidFill>
            <a:srgbClr val="6D8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5603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D8AFF"/>
                </a:solidFill>
                <a:latin typeface="Segoe UI"/>
              </a:rPr>
              <a:t>•  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F5F6F8"/>
                </a:solidFill>
                <a:latin typeface="Segoe UI"/>
              </a:rPr>
              <a:t>Vanilla JS (no framework)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31089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D8AFF"/>
                </a:solidFill>
                <a:latin typeface="Segoe UI"/>
              </a:rPr>
              <a:t>•  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F5F6F8"/>
                </a:solidFill>
                <a:latin typeface="Segoe UI"/>
              </a:rPr>
              <a:t>Chart.js visualisations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36576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D8AFF"/>
                </a:solidFill>
                <a:latin typeface="Segoe UI"/>
              </a:rPr>
              <a:t>•  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F5F6F8"/>
                </a:solidFill>
                <a:latin typeface="Segoe UI"/>
              </a:rPr>
              <a:t>Light / dark themes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42062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D8AFF"/>
                </a:solidFill>
                <a:latin typeface="Segoe UI"/>
              </a:rPr>
              <a:t>•  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F5F6F8"/>
                </a:solidFill>
                <a:latin typeface="Segoe UI"/>
              </a:rPr>
              <a:t>Responsive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999" y="4754879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D8AFF"/>
                </a:solidFill>
                <a:latin typeface="Segoe UI"/>
              </a:rPr>
              <a:t>•  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F5F6F8"/>
                </a:solidFill>
                <a:latin typeface="Segoe UI"/>
              </a:rPr>
              <a:t>Firebase Auth SDK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1737360"/>
            <a:ext cx="3474720" cy="3749039"/>
          </a:xfrm>
          <a:prstGeom prst="roundRect">
            <a:avLst/>
          </a:prstGeom>
          <a:solidFill>
            <a:srgbClr val="1C2333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79" y="1737360"/>
            <a:ext cx="3474720" cy="59436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Google 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5603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2C55E"/>
                </a:solidFill>
                <a:latin typeface="Segoe UI"/>
              </a:rPr>
              <a:t>•  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F5F6F8"/>
                </a:solidFill>
                <a:latin typeface="Segoe UI"/>
              </a:rPr>
              <a:t>Cloud Run (serverless)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31089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2C55E"/>
                </a:solidFill>
                <a:latin typeface="Segoe UI"/>
              </a:rPr>
              <a:t>•  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F5F6F8"/>
                </a:solidFill>
                <a:latin typeface="Segoe UI"/>
              </a:rPr>
              <a:t>Gemini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36576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2C55E"/>
                </a:solidFill>
                <a:latin typeface="Segoe UI"/>
              </a:rPr>
              <a:t>•  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F5F6F8"/>
                </a:solidFill>
                <a:latin typeface="Segoe UI"/>
              </a:rPr>
              <a:t>Firebase Firestore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42062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2C55E"/>
                </a:solidFill>
                <a:latin typeface="Segoe UI"/>
              </a:rPr>
              <a:t>•  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F5F6F8"/>
                </a:solidFill>
                <a:latin typeface="Segoe UI"/>
              </a:rPr>
              <a:t>Firebase Auth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4754879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2C55E"/>
                </a:solidFill>
                <a:latin typeface="Segoe UI"/>
              </a:rPr>
              <a:t>•  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F5F6F8"/>
                </a:solidFill>
                <a:latin typeface="Segoe UI"/>
              </a:rPr>
              <a:t>Cloud Logging + Secret Mgr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58064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</a:pPr>
            <a:r>
              <a:rPr sz="1100" b="0">
                <a:solidFill>
                  <a:srgbClr val="8B949E"/>
                </a:solidFill>
                <a:latin typeface="Segoe UI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064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8B949E"/>
                </a:solidFill>
                <a:latin typeface="Segoe UI"/>
              </a:rPr>
              <a:t>Aura — wellbeing early-warning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22C55E"/>
                </a:solidFill>
                <a:latin typeface="Segoe UI"/>
              </a:rPr>
              <a:t>RESPONSIBLE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Privacy, safety &amp; ethics are first-class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257800" cy="1170432"/>
          </a:xfrm>
          <a:prstGeom prst="roundRect">
            <a:avLst/>
          </a:prstGeom>
          <a:solidFill>
            <a:srgbClr val="1C2333"/>
          </a:solidFill>
          <a:ln w="1651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911095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Not a medical device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331720"/>
            <a:ext cx="4754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8B949E"/>
                </a:solidFill>
                <a:latin typeface="Segoe UI"/>
              </a:rPr>
              <a:t>No diagnosis, treatment or prediction claims — a self-awareness aid, explicitly.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59" y="1783080"/>
            <a:ext cx="5257800" cy="1170432"/>
          </a:xfrm>
          <a:prstGeom prst="roundRect">
            <a:avLst/>
          </a:prstGeom>
          <a:solidFill>
            <a:srgbClr val="1C2333"/>
          </a:solidFill>
          <a:ln w="1651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6792" y="1911095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Safety never depends on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6792" y="2331720"/>
            <a:ext cx="4754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8B949E"/>
                </a:solidFill>
                <a:latin typeface="Segoe UI"/>
              </a:rPr>
              <a:t>Explicit crisis language always surfaces helplines immediately, regardless of the score.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81528"/>
            <a:ext cx="5257800" cy="1170432"/>
          </a:xfrm>
          <a:prstGeom prst="roundRect">
            <a:avLst/>
          </a:prstGeom>
          <a:solidFill>
            <a:srgbClr val="1C2333"/>
          </a:solidFill>
          <a:ln w="16510">
            <a:solidFill>
              <a:srgbClr val="4F6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209544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Data minimisation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630168"/>
            <a:ext cx="4754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8B949E"/>
                </a:solidFill>
                <a:latin typeface="Segoe UI"/>
              </a:rPr>
              <a:t>Passive signals are aggregate counts; we never read message content. Contacts get generic nudges only.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59" y="3081528"/>
            <a:ext cx="5257800" cy="1170432"/>
          </a:xfrm>
          <a:prstGeom prst="roundRect">
            <a:avLst/>
          </a:prstGeom>
          <a:solidFill>
            <a:srgbClr val="1C2333"/>
          </a:solidFill>
          <a:ln w="1651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3209544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User ownership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3630168"/>
            <a:ext cx="4754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8B949E"/>
                </a:solidFill>
                <a:latin typeface="Segoe UI"/>
              </a:rPr>
              <a:t>One-tap export or delete-everything. Offline SQLite mode means data can stay fully on-device.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79976"/>
            <a:ext cx="5257800" cy="1170432"/>
          </a:xfrm>
          <a:prstGeom prst="roundRect">
            <a:avLst/>
          </a:prstGeom>
          <a:solidFill>
            <a:srgbClr val="1C2333"/>
          </a:solidFill>
          <a:ln w="16510">
            <a:solidFill>
              <a:srgbClr val="6D8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50799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Human in the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928616"/>
            <a:ext cx="4754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8B949E"/>
                </a:solidFill>
                <a:latin typeface="Segoe UI"/>
              </a:rPr>
              <a:t>Aura suggests; the person always decides and acts.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59" y="4379976"/>
            <a:ext cx="5257800" cy="1170432"/>
          </a:xfrm>
          <a:prstGeom prst="roundRect">
            <a:avLst/>
          </a:prstGeom>
          <a:solidFill>
            <a:srgbClr val="1C2333"/>
          </a:solidFill>
          <a:ln w="16510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450799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Explainable, not a black box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928616"/>
            <a:ext cx="4754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8B949E"/>
                </a:solidFill>
                <a:latin typeface="Segoe UI"/>
              </a:rPr>
              <a:t>Every score decomposes into named, inspectable contributions.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58064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</a:pPr>
            <a:r>
              <a:rPr sz="1100" b="0">
                <a:solidFill>
                  <a:srgbClr val="8B949E"/>
                </a:solidFill>
                <a:latin typeface="Segoe UI"/>
              </a:rP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064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8B949E"/>
                </a:solidFill>
                <a:latin typeface="Segoe UI"/>
              </a:rPr>
              <a:t>Aura — wellbeing early-warning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6D8AFF"/>
                </a:solidFill>
                <a:latin typeface="Segoe UI"/>
              </a:rPr>
              <a:t>DOES IT ACTUALLY 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Validated against PHQ-9 / GAD-7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>
                <a:solidFill>
                  <a:srgbClr val="F5F6F8"/>
                </a:solidFill>
                <a:latin typeface="Segoe UI"/>
              </a:rPr>
              <a:t>A built-in evaluation harness compares the passive Aura Index against periodic PHQ-9 / GAD-7 self-reports on the demo timeline — measuring correlation and, crucially, how much EARLIER it flags a shift.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51760"/>
            <a:ext cx="2560320" cy="2011680"/>
          </a:xfrm>
          <a:prstGeom prst="roundRect">
            <a:avLst/>
          </a:prstGeom>
          <a:solidFill>
            <a:srgbClr val="1C2333"/>
          </a:solidFill>
          <a:ln w="19050">
            <a:solidFill>
              <a:srgbClr val="4F6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550" b="1">
                <a:solidFill>
                  <a:srgbClr val="4F6EF7"/>
                </a:solidFill>
                <a:latin typeface="Segoe UI"/>
              </a:rPr>
              <a:t>Correlation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2194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250" b="0">
                <a:solidFill>
                  <a:srgbClr val="8B949E"/>
                </a:solidFill>
                <a:latin typeface="Segoe UI"/>
              </a:rPr>
              <a:t>Aura Index tracks
PHQ-9 &amp; GAD-7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651760"/>
            <a:ext cx="2560320" cy="2011680"/>
          </a:xfrm>
          <a:prstGeom prst="roundRect">
            <a:avLst/>
          </a:prstGeom>
          <a:solidFill>
            <a:srgbClr val="1C2333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88036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550" b="1">
                <a:solidFill>
                  <a:srgbClr val="22C55E"/>
                </a:solidFill>
                <a:latin typeface="Segoe UI"/>
              </a:rPr>
              <a:t>Lead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657600"/>
            <a:ext cx="2194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250" b="0">
                <a:solidFill>
                  <a:srgbClr val="8B949E"/>
                </a:solidFill>
                <a:latin typeface="Segoe UI"/>
              </a:rPr>
              <a:t>Flags a shift days
BEFORE the questionnaire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2651760"/>
            <a:ext cx="2560320" cy="2011680"/>
          </a:xfrm>
          <a:prstGeom prst="roundRect">
            <a:avLst/>
          </a:prstGeom>
          <a:solidFill>
            <a:srgbClr val="1C2333"/>
          </a:solidFill>
          <a:ln w="19050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88036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550" b="1">
                <a:solidFill>
                  <a:srgbClr val="EAB308"/>
                </a:solidFill>
                <a:latin typeface="Segoe UI"/>
              </a:rPr>
              <a:t>Precision / Recall / F1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657600"/>
            <a:ext cx="2194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250" b="0">
                <a:solidFill>
                  <a:srgbClr val="8B949E"/>
                </a:solidFill>
                <a:latin typeface="Segoe UI"/>
              </a:rPr>
              <a:t>Day-level detection
quality reported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2651760"/>
            <a:ext cx="2560320" cy="2011680"/>
          </a:xfrm>
          <a:prstGeom prst="roundRect">
            <a:avLst/>
          </a:prstGeom>
          <a:solidFill>
            <a:srgbClr val="1C2333"/>
          </a:solidFill>
          <a:ln w="19050">
            <a:solidFill>
              <a:srgbClr val="6D8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19" y="288036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550" b="1">
                <a:solidFill>
                  <a:srgbClr val="6D8AFF"/>
                </a:solidFill>
                <a:latin typeface="Segoe UI"/>
              </a:rPr>
              <a:t>65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19" y="3657600"/>
            <a:ext cx="2194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250" b="0">
                <a:solidFill>
                  <a:srgbClr val="8B949E"/>
                </a:solidFill>
                <a:latin typeface="Segoe UI"/>
              </a:rPr>
              <a:t>Backend fully
unit + API tested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29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8B949E"/>
                </a:solidFill>
                <a:latin typeface="Segoe UI"/>
              </a:rPr>
              <a:t>Metrics are illustrative on synthetic/self-reported data; real clinical validation would require an IRB-approved prospective study.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58064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</a:pPr>
            <a:r>
              <a:rPr sz="1100" b="0">
                <a:solidFill>
                  <a:srgbClr val="8B949E"/>
                </a:solidFill>
                <a:latin typeface="Segoe UI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064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8B949E"/>
                </a:solidFill>
                <a:latin typeface="Segoe UI"/>
              </a:rPr>
              <a:t>Aura — wellbeing early-warning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3840480"/>
            <a:ext cx="3657600" cy="3657600"/>
          </a:xfrm>
          <a:prstGeom prst="ellipse">
            <a:avLst/>
          </a:prstGeom>
          <a:solidFill>
            <a:srgbClr val="1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What's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146304" cy="457200"/>
          </a:xfrm>
          <a:prstGeom prst="rect">
            <a:avLst/>
          </a:prstGeom>
          <a:solidFill>
            <a:srgbClr val="4F6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D8AFF"/>
                </a:solidFill>
                <a:latin typeface="Segoe UI"/>
              </a:rPr>
              <a:t>Live Google Fit OAuth  —  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F6F8"/>
                </a:solidFill>
                <a:latin typeface="Segoe UI"/>
              </a:rPr>
              <a:t>swap the simulator for a full consented OAuth2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95728"/>
            <a:ext cx="146304" cy="457200"/>
          </a:xfrm>
          <a:prstGeom prst="rect">
            <a:avLst/>
          </a:prstGeom>
          <a:solidFill>
            <a:srgbClr val="4F6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395728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D8AFF"/>
                </a:solidFill>
                <a:latin typeface="Segoe UI"/>
              </a:rPr>
              <a:t>Vertex AI patterns  —  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F6F8"/>
                </a:solidFill>
                <a:latin typeface="Segoe UI"/>
              </a:rPr>
              <a:t>richer seasonal / cyclical detection at scale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054096"/>
            <a:ext cx="146304" cy="457200"/>
          </a:xfrm>
          <a:prstGeom prst="rect">
            <a:avLst/>
          </a:prstGeom>
          <a:solidFill>
            <a:srgbClr val="4F6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054096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D8AFF"/>
                </a:solidFill>
                <a:latin typeface="Segoe UI"/>
              </a:rPr>
              <a:t>Pub/Sub + Functions  —  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F6F8"/>
                </a:solidFill>
                <a:latin typeface="Segoe UI"/>
              </a:rPr>
              <a:t>event-driven nudges and reminders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712464"/>
            <a:ext cx="146304" cy="457200"/>
          </a:xfrm>
          <a:prstGeom prst="rect">
            <a:avLst/>
          </a:prstGeom>
          <a:solidFill>
            <a:srgbClr val="4F6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712464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D8AFF"/>
                </a:solidFill>
                <a:latin typeface="Segoe UI"/>
              </a:rPr>
              <a:t>BigQuery (opt-in, anonymised)  —  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F6F8"/>
                </a:solidFill>
                <a:latin typeface="Segoe UI"/>
              </a:rPr>
              <a:t>cohort insights for research partners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370831"/>
            <a:ext cx="146304" cy="457200"/>
          </a:xfrm>
          <a:prstGeom prst="rect">
            <a:avLst/>
          </a:prstGeom>
          <a:solidFill>
            <a:srgbClr val="4F6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370831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D8AFF"/>
                </a:solidFill>
                <a:latin typeface="Segoe UI"/>
              </a:rPr>
              <a:t>Native mobile  —  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F6F8"/>
                </a:solidFill>
                <a:latin typeface="Segoe UI"/>
              </a:rPr>
              <a:t>background passive collection with on-device privacy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257800"/>
            <a:ext cx="10515600" cy="10058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4F6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413248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>
                <a:solidFill>
                  <a:srgbClr val="6D8AFF"/>
                </a:solidFill>
                <a:latin typeface="Segoe UI"/>
              </a:rPr>
              <a:t>Aura  </a:t>
            </a:r>
          </a:p>
          <a:p>
            <a:pPr algn="l">
              <a:lnSpc>
                <a:spcPct val="106000"/>
              </a:lnSpc>
            </a:pPr>
            <a:r>
              <a:rPr sz="1500" b="0">
                <a:solidFill>
                  <a:srgbClr val="FFFFFF"/>
                </a:solidFill>
                <a:latin typeface="Segoe UI"/>
              </a:rPr>
              <a:t>— weak signals, noticed early, explained kindly, and acted on together. Private by default, powered by Google Cloud.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58064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</a:pPr>
            <a:r>
              <a:rPr sz="1100" b="0">
                <a:solidFill>
                  <a:srgbClr val="8B949E"/>
                </a:solidFill>
                <a:latin typeface="Segoe UI"/>
              </a:rP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064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8B949E"/>
                </a:solidFill>
                <a:latin typeface="Segoe UI"/>
              </a:rPr>
              <a:t>Aura — wellbeing early-warning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